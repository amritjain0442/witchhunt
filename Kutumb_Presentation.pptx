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645920"/>
            <a:ext cx="4754880" cy="475488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4754880"/>
            <a:ext cx="2011680" cy="201168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Calibri"/>
              </a:rPr>
              <a:t>WITCHHUNT 2026  ·  HEALTH &amp; WELLBEING  ·  HOPEWORKS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035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C0392B"/>
                </a:solidFill>
                <a:latin typeface="Nirmala UI"/>
              </a:rPr>
              <a:t>कुटुंब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0428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121A"/>
                </a:solidFill>
                <a:latin typeface="Calibri"/>
              </a:rPr>
              <a:t>K U T U M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3090672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18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76B3B"/>
                </a:solidFill>
                <a:latin typeface="Calibri"/>
              </a:rPr>
              <a:t>Ghar se door, dil ke paas.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611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Away from home, close to the heart.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04164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AI-powered family health companion</a:t>
            </a:r>
          </a:p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Voice-first  ·  100+ languages  ·  Privacy-first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Amrit  ·  Nishita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166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HopeWorks Hackathon  ·  April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280160"/>
            <a:ext cx="4114800" cy="14173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353312"/>
            <a:ext cx="3931920" cy="7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1.4B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102205"/>
            <a:ext cx="39319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Indians to reach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816352"/>
            <a:ext cx="4114800" cy="141732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889504"/>
            <a:ext cx="3931920" cy="7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7,100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638397"/>
            <a:ext cx="39319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Languages to serve globally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352544"/>
            <a:ext cx="4114800" cy="14173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4425696"/>
            <a:ext cx="3931920" cy="7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₹0 / 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174589"/>
            <a:ext cx="39319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Health data stored on our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48640"/>
            <a:ext cx="2926080" cy="292608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754880"/>
            <a:ext cx="2560320" cy="256032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MEET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Two builders. One mission. A billion families — and a world that needs better health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394960" cy="5166360"/>
          </a:xfrm>
          <a:prstGeom prst="rect">
            <a:avLst/>
          </a:prstGeom>
          <a:solidFill>
            <a:srgbClr val="F0F2F5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7400" y="1508760"/>
            <a:ext cx="1874519" cy="1874519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627632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2121A"/>
                </a:solidFill>
                <a:latin typeface="Calibri"/>
              </a:rPr>
              <a:t>Amrit Lahari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Full-Stack Developer &amp; AI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879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Calibri"/>
              </a:rPr>
              <a:t>B.Tech 3ʳᵈ Year  ·  BITS Pilani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D2D3A"/>
                </a:solidFill>
                <a:latin typeface="Calibri"/>
              </a:rPr>
              <a:t>FastAPI  ·  Anthropic Claude SDK  ·  Firebase</a:t>
            </a:r>
          </a:p>
          <a:p>
            <a:pPr algn="ctr"/>
            <a:r>
              <a:rPr sz="1000" b="0" i="1">
                <a:solidFill>
                  <a:srgbClr val="2D2D3A"/>
                </a:solidFill>
                <a:latin typeface="Calibri"/>
              </a:rPr>
              <a:t>React Native  ·  AES-256-GCM  ·  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5394960" cy="5166360"/>
          </a:xfrm>
          <a:prstGeom prst="rect">
            <a:avLst/>
          </a:prstGeom>
          <a:solidFill>
            <a:srgbClr val="F0F2F5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18120" y="1508760"/>
            <a:ext cx="1874519" cy="1874519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627632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564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2121A"/>
                </a:solidFill>
                <a:latin typeface="Calibri"/>
              </a:rPr>
              <a:t>Nishita Agarwal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862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6B3B"/>
                </a:solidFill>
                <a:latin typeface="Calibri"/>
              </a:rPr>
              <a:t>Product Designer &amp; Frontend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879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Calibri"/>
              </a:rPr>
              <a:t>B.Tech 3ʳᵈ Year  ·  BITS Pilani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72000"/>
            <a:ext cx="4572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66344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D2D3A"/>
                </a:solidFill>
                <a:latin typeface="Calibri"/>
              </a:rPr>
              <a:t>UI/UX Design  ·  React Native  ·  Voice UX</a:t>
            </a:r>
          </a:p>
          <a:p>
            <a:pPr algn="ctr"/>
            <a:r>
              <a:rPr sz="1000" b="0" i="1">
                <a:solidFill>
                  <a:srgbClr val="2D2D3A"/>
                </a:solidFill>
                <a:latin typeface="Calibri"/>
              </a:rPr>
              <a:t>Multilingual UX Research  ·  Data Viz  ·  Accessibility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2926080" cy="292608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21A"/>
                </a:solidFill>
                <a:latin typeface="Calibri"/>
              </a:rPr>
              <a:t>"How many of us call home every day,</a:t>
            </a:r>
          </a:p>
          <a:p>
            <a:pPr algn="l"/>
            <a:r>
              <a:rPr sz="2200" b="1" i="0">
                <a:solidFill>
                  <a:srgbClr val="12121A"/>
                </a:solidFill>
                <a:latin typeface="Calibri"/>
              </a:rPr>
              <a:t>ask 'how are you?' and get 'I'm fine'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— even when it’s not true.”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67712"/>
            <a:ext cx="137160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THE GLOBAL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760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3A"/>
                </a:solidFill>
                <a:latin typeface="Calibri"/>
              </a:rPr>
              <a:t>Healthcare systems are reactive, not proactive.</a:t>
            </a:r>
          </a:p>
          <a:p>
            <a:pPr algn="l"/>
            <a:r>
              <a:rPr sz="1400" b="0" i="0">
                <a:solidFill>
                  <a:srgbClr val="2D2D3A"/>
                </a:solidFill>
                <a:latin typeface="Calibri"/>
              </a:rPr>
              <a:t>Families engage doctors only during crises.</a:t>
            </a:r>
          </a:p>
          <a:p>
            <a:pPr algn="l"/>
            <a:r>
              <a:rPr sz="1400" b="0" i="0">
                <a:solidFill>
                  <a:srgbClr val="2D2D3A"/>
                </a:solidFill>
                <a:latin typeface="Calibri"/>
              </a:rPr>
              <a:t>Doctors receive zero longitudinal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India’s doctor-patient ratio: 1:1456</a:t>
            </a:r>
          </a:p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— nearly 50% worse than WHO minimum.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640080"/>
            <a:ext cx="4114800" cy="146304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713232"/>
            <a:ext cx="3931920" cy="819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4.5B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88643"/>
            <a:ext cx="3931920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People lack essential health access (WHO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40280"/>
            <a:ext cx="4114800" cy="146304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313432"/>
            <a:ext cx="3931920" cy="819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088843"/>
            <a:ext cx="3931920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Of global disease burden is preventable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840480"/>
            <a:ext cx="4114800" cy="146304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913632"/>
            <a:ext cx="3931920" cy="819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$8.3T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689043"/>
            <a:ext cx="3931920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Annual economic loss from poor health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572000"/>
            <a:ext cx="2926080" cy="292608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HOW THE PROBLEM SHOWS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Manifestation for users  ·  Impact on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HOW IT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HOW IT IMPACTS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353312"/>
            <a:ext cx="36576" cy="5212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" y="1691640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2821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60020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Silent deterioration — ‘I’m fine’ hides months of worsening symptoms doctors never see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660904"/>
            <a:ext cx="420624" cy="42062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9748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569464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No longitudinal data at consultations. Doctors start fresh every single visit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63016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66674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38728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Language exclusion: 40%+ of patients cannot describe symptoms in the healthcare system’s language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4599432"/>
            <a:ext cx="420624" cy="42062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3600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07992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Medicine non-adherence costs $300B/year (US alone) — 125,000 preventable deaths annually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5568696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0527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477256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Calibri"/>
              </a:rPr>
              <a:t>Rural invisibility: 3.5B people in areas with zero specialist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572768"/>
            <a:ext cx="5394960" cy="91440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45920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$300B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Annual cost of medication non-adherence globally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33472"/>
            <a:ext cx="5394960" cy="91440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706624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638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Of chronic disease could shift to preventive models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694176"/>
            <a:ext cx="5394960" cy="91440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6732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1:1456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24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India’s doctor-patient ratio vs WHO’s 1:1000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754880"/>
            <a:ext cx="5394960" cy="91440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2803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3.5B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85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People in LMICs with zero specialist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22960" y="-822960"/>
            <a:ext cx="2926080" cy="292608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937760"/>
            <a:ext cx="2926080" cy="292608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KUTUMB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A Digital Health Custodian — we hear you when you don’t mean your “I’m fine”s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4023360" cy="5193792"/>
          </a:xfrm>
          <a:prstGeom prst="rect">
            <a:avLst/>
          </a:prstGeom>
          <a:solidFill>
            <a:srgbClr val="F0F2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What We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21A"/>
                </a:solidFill>
                <a:latin typeface="Calibri"/>
              </a:rPr>
              <a:t>A voice-first AI</a:t>
            </a:r>
          </a:p>
          <a:p>
            <a:pPr algn="l"/>
            <a:r>
              <a:rPr sz="2100" b="1" i="0">
                <a:solidFill>
                  <a:srgbClr val="12121A"/>
                </a:solidFill>
                <a:latin typeface="Calibri"/>
              </a:rPr>
              <a:t>family health companion.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Listens in any dialect or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381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Monitors symptoms, vitals &amp; medicines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58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Alerts family in real time, anywhere on Earth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793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Generates doctor-ready clinical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000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Triggers emergency SOS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206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Works offline in villages with no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· Health data stays on your phone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1353312"/>
            <a:ext cx="3657600" cy="166420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46304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49961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147218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Voice-First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100+ Indian dialects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+ global language expansion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353312"/>
            <a:ext cx="3657600" cy="166420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1080" y="1463040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49961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147218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Family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Real-time health view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of every family member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1728" y="3136392"/>
            <a:ext cx="3657600" cy="166420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73168" y="324612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28269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325526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Genetic Risk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37033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Hereditary disease logic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auto-adjusts per member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3136392"/>
            <a:ext cx="3657600" cy="166420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41080" y="3246120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328269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325526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One-Tap 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7033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Family + hospital + ambulance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alerted in under 60s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728" y="4919472"/>
            <a:ext cx="3657600" cy="166420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73168" y="502920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506577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944" y="503834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Smart Medicine Cabinet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5486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OCR scan · Interaction check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Dose reminders + refills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4919472"/>
            <a:ext cx="3657600" cy="166420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5029200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506577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6" y="5038344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Doctor Referral 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5486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Auto-generated longitudinal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health summary for visits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548640"/>
            <a:ext cx="2743200" cy="274320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Three real humans.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3749039" cy="5193792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4248" y="1463040"/>
            <a:ext cx="621792" cy="6217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4248" y="1536192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21A"/>
                </a:solidFill>
                <a:latin typeface="Calibri"/>
              </a:rPr>
              <a:t>Ramprasad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237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B8D"/>
                </a:solidFill>
                <a:latin typeface="Calibri"/>
              </a:rPr>
              <a:t>Retired teacher, 68  ·  Jaipur  ·  Diabetic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953512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Diabetic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2" y="2953512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Hypertensive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337560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Tech-hesitant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3432" y="3337560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Children abroad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74904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99592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Medicine reminders in Marwari,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reassure his children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8920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Says ‘I’m fine’ every call.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Forgets 3 medicines weekly.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54126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578815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Medicine adherence +70%.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SOS to children in &lt;60s.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19" y="1353312"/>
            <a:ext cx="3749039" cy="5193792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61887" y="1463040"/>
            <a:ext cx="621792" cy="6217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7" y="1536192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21579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21A"/>
                </a:solidFill>
                <a:latin typeface="Calibri"/>
              </a:rPr>
              <a:t>Priya Mehta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25237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B8D"/>
                </a:solidFill>
                <a:latin typeface="Calibri"/>
              </a:rPr>
              <a:t>Software engineer, 32  ·  Bengaluru / Chicago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7" y="2953512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7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Global caregiver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1" y="2953512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1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Time-starved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7" y="3337560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7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Data-driven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1" y="3337560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1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Helpless remotely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7" y="374904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NEED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7" y="399592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Real-time window into parents’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health from 8,000 miles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7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PAIN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7" y="48920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Can’t attend doctor visits.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No hereditary risk insight.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7" y="554126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GAIN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7" y="578815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Live family dashboard.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3h/week saved on remote care.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58" y="1353312"/>
            <a:ext cx="3749039" cy="5193792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39526" y="1463040"/>
            <a:ext cx="621792" cy="6217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9526" y="1536192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198" y="21579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21A"/>
                </a:solidFill>
                <a:latin typeface="Calibri"/>
              </a:rPr>
              <a:t>Savitribai Patil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8" y="25237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B8D"/>
                </a:solidFill>
                <a:latin typeface="Calibri"/>
              </a:rPr>
              <a:t>ASHA worker, 38  ·  Vidarbha  ·  Serves 200+ families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76486" y="2953512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22206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200+ families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68710" y="2953512"/>
            <a:ext cx="1700784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14430" y="299008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 specialist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76486" y="3337560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22206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Offline-critical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68710" y="3337560"/>
            <a:ext cx="1700784" cy="3108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14430" y="337413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Trusted locally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6" y="374904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NEED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6486" y="399592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Clinical support in Marathi,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offline, for rural monitoring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486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PAIN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76486" y="48920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Nearest doctor 30 km away.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Paper records lost.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76486" y="554126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6B3B"/>
                </a:solidFill>
                <a:latin typeface="Calibri"/>
              </a:rPr>
              <a:t>GAIN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76486" y="578815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200 families on screen.</a:t>
            </a:r>
          </a:p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Wrong referrals cut 50%.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5029200"/>
            <a:ext cx="2560320" cy="256032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THE AI BRAIN — 4-LAYER INTELLIGENCE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Every layer has one job. Together they save lives.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8229600" cy="11887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98448"/>
            <a:ext cx="105156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007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7160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Multilingual NLP Voice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73936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Google STT + Bhashini ASR transcribes 100+ Indian dialects. Sentiment detects fatigue, stress, low mood from voice tone — even when user says ‘I’m fine’. Works offline at 2G.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298448"/>
            <a:ext cx="320040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6184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Calibri"/>
              </a:rPr>
              <a:t>Bhashini  ·  Whisper large-v3  ·  On-device TFLite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42616"/>
            <a:ext cx="8229600" cy="118872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42616"/>
            <a:ext cx="105156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0449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1576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Claude AI Health Memory System (Core Brain)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18104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claude-sonnet-4-6 powers all health intelligence. User’s full encrypted history (.kutumb AES-256-GCM) sent per-session. Returns AI response + structured memory patches + trigger rules. Zero server-side storage.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2642616"/>
            <a:ext cx="320040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96265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B3B"/>
                </a:solidFill>
                <a:latin typeface="Calibri"/>
              </a:rPr>
              <a:t>claude-sonnet-4-6  ·  3-layer prompt  ·  Local AES-256-GCM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86784"/>
            <a:ext cx="8229600" cy="11887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86784"/>
            <a:ext cx="105156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3891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059936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Predictive Health Intelligence &amp; Trigger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62272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Trend analysis detects declining organ scores, recurring symptoms, medicine non-adherence. Hard trigger rules fire locally offline. SpO2 &lt; 88 → immediate SOS. Blood glucose &gt; 300 → emergency.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6528" y="3986784"/>
            <a:ext cx="320040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430682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Calibri"/>
              </a:rPr>
              <a:t>Custom organ scoring (Heart/Brain/Gut/Lungs)  ·  Firestore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30952"/>
            <a:ext cx="8229600" cy="118872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330952"/>
            <a:ext cx="105156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733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04104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Computer Vision — Prescriptions &amp; Lab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806440"/>
            <a:ext cx="6949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Google Cloud Vision OCR reads prescription photos and PDF lab reports. Extracts drug names, dosages, biomarker values. Critical lab values trigger push notification + family SOS. Doctor referral PDF auto-generated.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5330952"/>
            <a:ext cx="320040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65099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B3B"/>
                </a:solidFill>
                <a:latin typeface="Calibri"/>
              </a:rPr>
              <a:t>Google Cloud Vision API  ·  LLM extraction  ·  WeasyPrint referral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97280"/>
            <a:ext cx="4572000" cy="457200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2926080" cy="292608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LANGUAGE SCALABILITY — 7,100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Health advice that speaks your language, not just the hospital’s.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C0392B"/>
                </a:solidFill>
                <a:latin typeface="Calibri"/>
              </a:rPr>
              <a:t>7,100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23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76B3B"/>
                </a:solidFill>
                <a:latin typeface="Calibri"/>
              </a:rPr>
              <a:t>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7772400" cy="1115568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298448"/>
            <a:ext cx="7452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1A14"/>
                </a:solidFill>
                <a:latin typeface="Calibri"/>
              </a:rPr>
              <a:t>“The same AI that asks ‘Did you take your BP medicine?’ in Marwari</a:t>
            </a:r>
          </a:p>
          <a:p>
            <a:pPr algn="l"/>
            <a:r>
              <a:rPr sz="1100" b="0" i="1">
                <a:solidFill>
                  <a:srgbClr val="8B1A14"/>
                </a:solidFill>
                <a:latin typeface="Calibri"/>
              </a:rPr>
              <a:t>will ask the same question in Swahili, Hausa, Tagalog, and Haitian Creole—</a:t>
            </a:r>
          </a:p>
          <a:p>
            <a:pPr algn="l"/>
            <a:r>
              <a:rPr sz="1100" b="0" i="1">
                <a:solidFill>
                  <a:srgbClr val="8B1A14"/>
                </a:solidFill>
                <a:latin typeface="Calibri"/>
              </a:rPr>
              <a:t>trained on the same architecture, deployed on the same app.”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33472"/>
            <a:ext cx="11430000" cy="896112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33472"/>
            <a:ext cx="1325880" cy="8961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883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11 langs  ·  1.2B speakers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3580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Hindi  ·  Marathi  ·  Bengali  ·  Tamil  ·  Telugu  ·  Kannada  ·  Gujarati  ·  Punjabi  ·  Malayalam  ·  Odia  ·  English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11430000" cy="896112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39312"/>
            <a:ext cx="1325880" cy="896112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1246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416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3–6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941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10 langs  ·  800M+ speakers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4164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Swahili  ·  Hausa  ·  Amharic  ·  Yoruba  ·  Tagalog  ·  Bahasa  ·  Vietnamese  ·  Burmese  ·  Nepali  ·  Sinhala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645152"/>
            <a:ext cx="11430000" cy="896112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645152"/>
            <a:ext cx="1325880" cy="8961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183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474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12–24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0001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14 lang families  ·  3B+ speakers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4748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Spanish  ·  Portuguese  ·  Arabic  ·  French (Africa)  ·  Mandarin  ·  Urdu  ·  Pashto  ·  Dari  ·  Haitian Creole + dialects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650992"/>
            <a:ext cx="11430000" cy="896112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650992"/>
            <a:ext cx="1325880" cy="896112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72414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533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36 months+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7058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Full global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5332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All 7,100 UNESCO-recognised languages via low-resource NLP, code-switching models, federated on-device fine-tuning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4937760"/>
            <a:ext cx="2560320" cy="256032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Privacy-first by design — health data never leaves the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React 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261872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 (Python)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261872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claude-sonnet-4-6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1261872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Firebase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8472" y="1261872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Google 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261872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1298448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AES-256-GCM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55648"/>
            <a:ext cx="2084831" cy="14173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5567" y="1828800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7" y="18653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2258568"/>
            <a:ext cx="19751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A"/>
                </a:solidFill>
                <a:latin typeface="Calibri"/>
              </a:rPr>
              <a:t>User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2624328"/>
            <a:ext cx="197510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React Native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Encrypted .kutumb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2576" y="2258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1755648"/>
            <a:ext cx="2084831" cy="141732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11295" y="182880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5" y="18653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2258568"/>
            <a:ext cx="19751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A"/>
                </a:solidFill>
                <a:latin typeface="Calibri"/>
              </a:rPr>
              <a:t>FastAPI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2624328"/>
            <a:ext cx="197510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12 modules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30+ endpoints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2258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65776" y="1755648"/>
            <a:ext cx="2084831" cy="14173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07023" y="1828800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7023" y="18653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258568"/>
            <a:ext cx="19751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A"/>
                </a:solidFill>
                <a:latin typeface="Calibri"/>
              </a:rPr>
              <a:t>Claude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2624328"/>
            <a:ext cx="197510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claude-sonnet-4-6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Memory + Patches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258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61504" y="1755648"/>
            <a:ext cx="2084831" cy="141732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1" y="182880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1" y="18653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2258568"/>
            <a:ext cx="19751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A"/>
                </a:solidFill>
                <a:latin typeface="Calibri"/>
              </a:rPr>
              <a:t>Firebase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624328"/>
            <a:ext cx="197510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Firestore + Storage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Family &amp; labs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2258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57232" y="1755648"/>
            <a:ext cx="2084831" cy="141732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98479" y="1828800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98479" y="186537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12096" y="2258568"/>
            <a:ext cx="19751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A"/>
                </a:solidFill>
                <a:latin typeface="Calibri"/>
              </a:rPr>
              <a:t>SOS &amp;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2624328"/>
            <a:ext cx="197510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FCM push + SMS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Emergency relay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346704"/>
            <a:ext cx="11430000" cy="749808"/>
          </a:xfrm>
          <a:prstGeom prst="rect">
            <a:avLst/>
          </a:prstGeom>
          <a:solidFill>
            <a:srgbClr val="F0F2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419856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2121A"/>
                </a:solidFill>
                <a:latin typeface="Calibri"/>
              </a:rPr>
              <a:t>[LOCK]  LOCAL HEALTH MEMORY: .kutumb file (AES-256-GCM) lives ONLY on user’s device. Sent per-session over TLS 1.3. Purged from server memory immediately. DPDP · HIPAA · GDPR compliant by architecture.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251960"/>
            <a:ext cx="27432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88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DPDP 2023 (India)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4251960"/>
            <a:ext cx="27432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4288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HIPAA (United States)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4251960"/>
            <a:ext cx="27432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288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GDPR (European Union)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4251960"/>
            <a:ext cx="27432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4288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Offline-First (2G)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800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121A"/>
                </a:solidFill>
                <a:latin typeface="Calibri"/>
              </a:rPr>
              <a:t>12 BACKEND MODULES: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166360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95728" y="5166360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41448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79976" y="5166360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25696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64224" y="5166360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9944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Check-ins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48472" y="5166360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94192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Medicines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32720" y="5166360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78440" y="5202936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Health Scores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568696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Emergency SOS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95728" y="5568696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41448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Referrals PDF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79976" y="5568696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25696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Wearable Sync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64224" y="5568696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9944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Lab OCR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48472" y="5568696"/>
            <a:ext cx="1874519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94192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Insights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32720" y="5568696"/>
            <a:ext cx="1874519" cy="329184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78440" y="5605272"/>
            <a:ext cx="1783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548640"/>
            <a:ext cx="2377440" cy="237744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TECHNICAL REQUEST — FACILITATED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What we have  ·  What we need  ·  How it unlocks global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WHAT WE HAVE (Open Source, Already Live)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394960" cy="7772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4" y="192024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7739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Bhashini Open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214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Hindi / Marathi / Bengali STT live in prototype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33472"/>
            <a:ext cx="5394960" cy="7772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" y="283464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8346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6883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SNOMED CT (free tier)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0358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Clinical terminology, symptom tagging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47872"/>
            <a:ext cx="5394960" cy="7772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374904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6027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RxNorm (NLM open)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9502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Drug interaction baseline, name normalisation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62272"/>
            <a:ext cx="5394960" cy="7772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" y="466344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663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5171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ICMR OGD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8646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40 district health statistics for score calibration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76672"/>
            <a:ext cx="5394960" cy="7772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2064" y="557784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5778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Whisper open weights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7790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Foundation model for all non-Bhashini languages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131673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WHAT WE NEED (Facilitated / AI4India)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719072"/>
            <a:ext cx="5870448" cy="1024128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72200" y="199339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02996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17922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Bhashini ASR Training Corpus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217627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500h/language  ·  12 languages  ·  Speaker-level granularity (age, region, gender)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907792"/>
            <a:ext cx="5870448" cy="1024128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72200" y="318211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21868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29809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Anonymised Longitudinal Health Records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36499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5 years  ·  100K+ patients  ·  Urban + rural split  ·  ICD-10 diagnosis codes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096512"/>
            <a:ext cx="5870448" cy="1024128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72200" y="437083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440740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8" y="41696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ICMR Lab Report Template Library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8" y="455371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50+ formats  ·  10,000+ anonymised samples  ·  Lab name, biomarker, value, reference range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5285232"/>
            <a:ext cx="5870448" cy="1024128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72200" y="555955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59612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53583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Low-Resource Language Audio (LMICs)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574243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100h/language: Swahili, Hausa, Tagalog, Bahasa  ·  Health-domain sentences preferred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4389120"/>
            <a:ext cx="2560320" cy="256032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ENVIRONMENT &amp; SECURITY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Access methods  ·  Compliance  ·  Privacy by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ACCESS METHOD &amp; DATA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3749039" cy="129844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" y="17373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2880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Secure API (Preferred)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221992"/>
            <a:ext cx="354787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HTTPS REST with OAuth2 / API-key. Data streamed, not cached. All responses via encrypted channel.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1627632"/>
            <a:ext cx="3749039" cy="129844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8847" y="173736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737360"/>
            <a:ext cx="2880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AIKosh 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7" y="2221992"/>
            <a:ext cx="354787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Health records processed entirely inside the AIKosh secure sandbox. No data extraction. Results-only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58" y="1627632"/>
            <a:ext cx="3749039" cy="129844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76486" y="17373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6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8" y="1737360"/>
            <a:ext cx="2880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Encrypted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6" y="2221992"/>
            <a:ext cx="354787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3A"/>
                </a:solidFill>
                <a:latin typeface="Calibri"/>
              </a:rPr>
              <a:t>Static corpora as AES-256 ZIP to isolated research environment. Destruction certification on completion.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0358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COMPLIANCE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01568"/>
            <a:ext cx="11430000" cy="896112"/>
          </a:xfrm>
          <a:prstGeom prst="rect">
            <a:avLst/>
          </a:prstGeom>
          <a:solidFill>
            <a:srgbClr val="F0F2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401568"/>
            <a:ext cx="2331720" cy="8961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667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DPDP Act 2023 (India)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529584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No health data stored server-side between sessions. Consent gate at onboarding. Right to erasure: delete account = wipe local .kutumb file.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25696"/>
            <a:ext cx="11430000" cy="896112"/>
          </a:xfrm>
          <a:prstGeom prst="rect">
            <a:avLst/>
          </a:prstGeom>
          <a:solidFill>
            <a:srgbClr val="F0F2F5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425696"/>
            <a:ext cx="2331720" cy="896112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69087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HIPAA (United States)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55371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Zero PHI stored server-side. TLS 1.3 for all data in transit. Zero logging of health content. Business Associate Agreement available for US.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449824"/>
            <a:ext cx="11430000" cy="896112"/>
          </a:xfrm>
          <a:prstGeom prst="rect">
            <a:avLst/>
          </a:prstGeom>
          <a:solidFill>
            <a:srgbClr val="F0F2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449824"/>
            <a:ext cx="2331720" cy="8961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7150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GDPR (European Union)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577840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Explicit opt-in consent. Data minimisation: only sha256 user hash sent to server. Right to portability (export .kutumb). Right to erasure.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88952" cy="347472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Security: AES-256-GCM on device  ·  TLS 1.3 in transit  ·  sha256 user hash (no reversible PII)  ·  Biometric key wrap (iOS Secure Enclave / Android Keystore)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548640"/>
            <a:ext cx="2377440" cy="237744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937760"/>
            <a:ext cx="2194560" cy="219456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BUSINESS MODEL, PARTNERSHIPS &amp;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Three tiers. Recurring revenue. Global partnership runway.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3749039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₹0 /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30552"/>
            <a:ext cx="3749039" cy="2606040"/>
          </a:xfrm>
          <a:prstGeom prst="rect">
            <a:avLst/>
          </a:prstGeom>
          <a:solidFill>
            <a:srgbClr val="E8F8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219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Daily voice 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Family dashboard (3 members)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2666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Basic medicine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One-tap 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3133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Kutumb AI (5/day)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19" y="1353312"/>
            <a:ext cx="3749039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3716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737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₹149 / $2.99 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19" y="2130552"/>
            <a:ext cx="3749039" cy="2606040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2219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Unlimited family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624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Full AI health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02666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Doctor referral PDFs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4290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Lab report 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83133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Wearable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23367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Priority ambulance SOS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8" y="1353312"/>
            <a:ext cx="3749039" cy="7772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8" y="13716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CARE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1737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₹499 / $7.99 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58" y="2130552"/>
            <a:ext cx="3749039" cy="2606040"/>
          </a:xfrm>
          <a:prstGeom prst="rect">
            <a:avLst/>
          </a:prstGeom>
          <a:solidFill>
            <a:srgbClr val="F0F2F5"/>
          </a:solidFill>
          <a:ln w="19050">
            <a:solidFill>
              <a:srgbClr val="2D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8" y="22219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ASHA/CHW multi-family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8" y="262432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Clinical decision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8" y="3026664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Govt. scheme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8" y="34290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Telemedicine booking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3831336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21A"/>
                </a:solidFill>
                <a:latin typeface="Calibri"/>
              </a:rPr>
              <a:t>✓  White-label (NHS · CGHS · Medicaid)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892040"/>
            <a:ext cx="1143000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919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121A"/>
                </a:solidFill>
                <a:latin typeface="Calibri"/>
              </a:rPr>
              <a:t>RETENTION &amp; PARTNERSHIPS</a:t>
            </a:r>
          </a:p>
        </p:txBody>
      </p:sp>
      <p:sp>
        <p:nvSpPr>
          <p:cNvPr id="38" name="Oval 37"/>
          <p:cNvSpPr/>
          <p:nvPr/>
        </p:nvSpPr>
        <p:spPr>
          <a:xfrm>
            <a:off x="411480" y="5376672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53766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Pharmeasy / 1mg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70585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Medicine refill + streak coupons</a:t>
            </a:r>
          </a:p>
        </p:txBody>
      </p:sp>
      <p:sp>
        <p:nvSpPr>
          <p:cNvPr id="41" name="Oval 40"/>
          <p:cNvSpPr/>
          <p:nvPr/>
        </p:nvSpPr>
        <p:spPr>
          <a:xfrm>
            <a:off x="3383280" y="537667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0208" y="53766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Thyrocare / Redcliffe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570585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Lab booking from referral PDF</a:t>
            </a:r>
          </a:p>
        </p:txBody>
      </p:sp>
      <p:sp>
        <p:nvSpPr>
          <p:cNvPr id="44" name="Oval 43"/>
          <p:cNvSpPr/>
          <p:nvPr/>
        </p:nvSpPr>
        <p:spPr>
          <a:xfrm>
            <a:off x="6355080" y="5376672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22008" y="53766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WHO / UNICEF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08" y="570585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UHC 2030 alignment, LMIC rollout</a:t>
            </a:r>
          </a:p>
        </p:txBody>
      </p:sp>
      <p:sp>
        <p:nvSpPr>
          <p:cNvPr id="47" name="Oval 46"/>
          <p:cNvSpPr/>
          <p:nvPr/>
        </p:nvSpPr>
        <p:spPr>
          <a:xfrm>
            <a:off x="9326880" y="537667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93808" y="53766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NHS · CGHS · Medicaid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570585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White-label government deployments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4937760"/>
            <a:ext cx="2560320" cy="256032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CHALLENGES &amp; RISKS — WITH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We’ve thought hard about what could go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5669280" cy="23957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444752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Medical Ethics &amp; Non-Diagnosis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! Risk: Users treating AI advice as clinical diagnosis → delayed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54406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88336"/>
            <a:ext cx="54406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21A"/>
                </a:solidFill>
                <a:latin typeface="Calibri"/>
              </a:rPr>
              <a:t>✓ Mitigation: Hard-coded Non-Doctor Mode. 48h+ persistent symptom forces ‘Book a Doctor’. Referral PDF language is always ‘Pointers for your doctor’, never a diagnosis.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53312"/>
            <a:ext cx="5669280" cy="23957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444752"/>
            <a:ext cx="438912" cy="438912"/>
          </a:xfrm>
          <a:prstGeom prst="ellipse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8132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Global Privacy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83664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! Risk: Health data exposure across jurisdictions: DPDP, HIPAA, GDPR.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587752"/>
            <a:ext cx="5440680" cy="36576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88336"/>
            <a:ext cx="54406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21A"/>
                </a:solidFill>
                <a:latin typeface="Calibri"/>
              </a:rPr>
              <a:t>✓ Mitigation: Zero health data on servers. AES-256-GCM on device. sha256 user hash only (non-reversible). Compliant by architecture, not just policy.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5669280" cy="23957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4023360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993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AI Hallucination in Drug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62272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! Risk: Fabricated drug interactions directly harm patients on critical medications.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54406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66944"/>
            <a:ext cx="54406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21A"/>
                </a:solidFill>
                <a:latin typeface="Calibri"/>
              </a:rPr>
              <a:t>✓ Mitigation: Hard contraindication rules fire BEFORE Claude call. Claude instructed: never invent pharmacology. Severity=‘severe’ always sets must_consult_doctor=True.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931920"/>
            <a:ext cx="5669280" cy="23957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4023360"/>
            <a:ext cx="438912" cy="438912"/>
          </a:xfrm>
          <a:prstGeom prst="ellipse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5993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Rural Connectivity &amp; Low-End 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462272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! Risk: Core users: 2G networks, ₹3,000–₹6,000 Android phones, no data plan.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166360"/>
            <a:ext cx="5440680" cy="36576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266944"/>
            <a:ext cx="54406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21A"/>
                </a:solidFill>
                <a:latin typeface="Calibri"/>
              </a:rPr>
              <a:t>✓ Mitigation: Offline-first: trigger rules run locally. Cached STT models. WhatsApp bot fallback, no app install. Core bundle &lt;5MB. Voice-only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548640"/>
            <a:ext cx="2377440" cy="237744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ANTICIPATED RESULTS &amp; IMPACT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What Kutumb achieves — quantified, per persona, scalable.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788920" cy="157276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99032"/>
            <a:ext cx="2606040" cy="88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8085"/>
            <a:ext cx="260604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Reduction in missed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medicine doses—Year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788920" cy="157276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99032"/>
            <a:ext cx="2606040" cy="88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38085"/>
            <a:ext cx="260604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Doctor visits prepared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with longitudinal health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2788920" cy="1572768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99032"/>
            <a:ext cx="2606040" cy="88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76B3B"/>
                </a:solidFill>
                <a:latin typeface="Calibr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38085"/>
            <a:ext cx="260604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Fewer emergency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hospitalisations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(monitored users)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325880"/>
            <a:ext cx="2788920" cy="157276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399032"/>
            <a:ext cx="2606040" cy="88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$300B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38085"/>
            <a:ext cx="260604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Global annual opportunity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in preventable</a:t>
            </a:r>
          </a:p>
          <a:p>
            <a:pPr algn="ctr"/>
            <a:r>
              <a:rPr sz="1000" b="0" i="0">
                <a:solidFill>
                  <a:srgbClr val="2D2D3A"/>
                </a:solidFill>
                <a:latin typeface="Calibri"/>
              </a:rPr>
              <a:t>medication waste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0906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121A"/>
                </a:solidFill>
                <a:latin typeface="Calibri"/>
              </a:rPr>
              <a:t>PERSONA-WISE QUANTIFIED ADVANTAGE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93008"/>
            <a:ext cx="11430000" cy="86868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3602736"/>
            <a:ext cx="621792" cy="6217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75888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66160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Ramprasad (Elderly Parent)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566160"/>
            <a:ext cx="6675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Medicine adherence +70%. SOS alerts children in &lt;60s. Doctor visits arrive with 6-month health data. Est. ₹18,000/year saved on avoidable consultations.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2448" y="3493008"/>
            <a:ext cx="36576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3657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5 min/day</a:t>
            </a:r>
          </a:p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voice check-in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480560"/>
            <a:ext cx="11430000" cy="868680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4590288"/>
            <a:ext cx="621792" cy="621792"/>
          </a:xfrm>
          <a:prstGeom prst="ellipse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63440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553712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B3B"/>
                </a:solidFill>
                <a:latin typeface="Calibri"/>
              </a:rPr>
              <a:t>Priya (Global Caregiver)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53712"/>
            <a:ext cx="6675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Real-time parent health dashboard from anywhere. 3h/week saved on remote care. 50% fewer ‘emergency flight’ scenarios. Peace of mind, quantified.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42448" y="4480560"/>
            <a:ext cx="36576" cy="868680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4645152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B3B"/>
                </a:solidFill>
                <a:latin typeface="Calibri"/>
              </a:rPr>
              <a:t>2 min/day</a:t>
            </a:r>
          </a:p>
          <a:p>
            <a:pPr algn="l"/>
            <a:r>
              <a:rPr sz="900" b="0" i="1">
                <a:solidFill>
                  <a:srgbClr val="176B3B"/>
                </a:solidFill>
                <a:latin typeface="Calibri"/>
              </a:rPr>
              <a:t>dashboard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468112"/>
            <a:ext cx="11430000" cy="868680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2920" y="5577840"/>
            <a:ext cx="621792" cy="6217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50992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54126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Savitribai (ASHA Worker)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541264"/>
            <a:ext cx="6675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200 families managed from one screen. Wrong referrals cut by 50%. Maternal monitoring enabled. Fully offline-capable, works on 2G feature phone.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42448" y="5468112"/>
            <a:ext cx="36576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20" y="5632704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Weekly data</a:t>
            </a:r>
          </a:p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sync in town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492240"/>
            <a:ext cx="11430000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28816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  <a:latin typeface="Calibri"/>
              </a:rPr>
              <a:t>Scalability: Serverless FastAPI (Cloud Run)  ·  Firestore to 1M+ concurrent users  ·  Local AI cuts server costs 80%  ·  Phase 2: SE Asia, Africa, Latin America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4937760"/>
            <a:ext cx="2560320" cy="256032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21A"/>
                </a:solidFill>
                <a:latin typeface="Calibri"/>
              </a:rPr>
              <a:t>WHY KUTUMB: CREDIBILITY &amp; GLOBAL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Built in India. Designed for the world. Trusted by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645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WHY WE’RE CREDIBLE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440680" cy="10241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4" y="1892808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764792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Complete architecture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148840"/>
            <a:ext cx="4553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12 FastAPI modules, 30+ endpoints, full Firestore schema, 3-layer Claude prompt. All documented, all buildable now.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80360"/>
            <a:ext cx="5440680" cy="10241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" y="3081528"/>
            <a:ext cx="548640" cy="548640"/>
          </a:xfrm>
          <a:prstGeom prst="ellipse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953512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Privacy-first by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337560"/>
            <a:ext cx="4553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AES-256-GCM local. Zero health data server storage. Meets DPDP, HIPAA, GDPR simultaneously — by architecture.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69080"/>
            <a:ext cx="5440680" cy="10241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4270248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42232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Claude AI as core brain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526280"/>
            <a:ext cx="4553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Anthropic claude-sonnet-4-6 with hard ethical guardrails — no diagnosis, must_consult_doctor enforced, never invents pharmacology.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57800"/>
            <a:ext cx="5440680" cy="10241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" y="5458968"/>
            <a:ext cx="548640" cy="548640"/>
          </a:xfrm>
          <a:prstGeom prst="ellipse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330952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Evidence-based projections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715000"/>
            <a:ext cx="4553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3A"/>
                </a:solidFill>
                <a:latin typeface="Calibri"/>
              </a:rPr>
              <a:t>Every number grounded in WHO, ICMR, NLM, and peer-reviewed health economics. Not guesses — cited research.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3167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B3B"/>
                </a:solidFill>
                <a:latin typeface="Calibri"/>
              </a:rPr>
              <a:t>GLOBAL EXPANSION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691640"/>
            <a:ext cx="5742432" cy="10241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691640"/>
            <a:ext cx="1719072" cy="10241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76479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 (Now)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13055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1874520"/>
            <a:ext cx="37673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11 Indic languages, 300M+ families, ASHA + consumer app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880360"/>
            <a:ext cx="5742432" cy="10241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880360"/>
            <a:ext cx="1719072" cy="1024128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95351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 (6mo)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31927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SE Asia + E. Africa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063240"/>
            <a:ext cx="37673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Swahili, Hausa, Tagalog, Bahasa. NGO + government partnerships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5742432" cy="1024128"/>
          </a:xfrm>
          <a:prstGeom prst="rect">
            <a:avLst/>
          </a:prstGeom>
          <a:solidFill>
            <a:srgbClr val="FDED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4069080"/>
            <a:ext cx="1719072" cy="10241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414223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 (18mo)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50799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Latin America + MENA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251960"/>
            <a:ext cx="37673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Spanish, Portuguese, Arabic. Telehealth integration. 3B speakers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257800"/>
            <a:ext cx="5742432" cy="1024128"/>
          </a:xfrm>
          <a:prstGeom prst="rect">
            <a:avLst/>
          </a:prstGeom>
          <a:solidFill>
            <a:srgbClr val="E8F8EE"/>
          </a:solidFill>
          <a:ln w="25400">
            <a:solidFill>
              <a:srgbClr val="1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5257800"/>
            <a:ext cx="1719072" cy="1024128"/>
          </a:xfrm>
          <a:prstGeom prst="rect">
            <a:avLst/>
          </a:prstGeom>
          <a:solidFill>
            <a:srgbClr val="17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33095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 (36mo+)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69671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5440680"/>
            <a:ext cx="37673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3A"/>
                </a:solidFill>
                <a:latin typeface="Calibri"/>
              </a:rPr>
              <a:t>7,100 languages. White-label NHS, Medicaid, Ayushman Bharat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492240"/>
            <a:ext cx="11430000" cy="292608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528816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B3B"/>
                </a:solidFill>
                <a:latin typeface="Calibri"/>
              </a:rPr>
              <a:t>HopeWorks alignment: Kutumb reduces catastrophic health expenses — the single biggest driver of poverty in LMICs. Health equity = economic empowerment.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303520" cy="530352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5120640"/>
            <a:ext cx="2926080" cy="2926080"/>
          </a:xfrm>
          <a:prstGeom prst="ellipse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12121A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B8D"/>
                </a:solidFill>
                <a:latin typeface="Calibri"/>
              </a:rPr>
              <a:t>for your time and 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42032"/>
            <a:ext cx="21945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2542032"/>
            <a:ext cx="21945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  <a:latin typeface="Nirmala UI"/>
              </a:rPr>
              <a:t>कुटुंब  ·  KUTUMB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76B3B"/>
                </a:solidFill>
                <a:latin typeface="Calibri"/>
              </a:rPr>
              <a:t>Ghar se door, dil ke paas.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76B3B"/>
                </a:solidFill>
                <a:latin typeface="Calibri"/>
              </a:rPr>
              <a:t>Away from home, close to the heart.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B8D"/>
                </a:solidFill>
                <a:latin typeface="Calibri"/>
              </a:rPr>
              <a:t>Built for India. Designed for the world.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73168"/>
            <a:ext cx="3931920" cy="1051560"/>
          </a:xfrm>
          <a:prstGeom prst="rect">
            <a:avLst/>
          </a:prstGeom>
          <a:solidFill>
            <a:srgbClr val="F0F2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21A"/>
                </a:solidFill>
                <a:latin typeface="Calibri"/>
              </a:rPr>
              <a:t>Team: Amrit &amp; Nishita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12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WitchHunt 2026  ·  Health &amp; Well-being  ·  HopeWorks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773168"/>
            <a:ext cx="3931920" cy="1051560"/>
          </a:xfrm>
          <a:prstGeom prst="rect">
            <a:avLst/>
          </a:prstGeom>
          <a:solidFill>
            <a:srgbClr val="F0F2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B3B"/>
                </a:solidFill>
                <a:latin typeface="Calibri"/>
              </a:rPr>
              <a:t>Mission: Health for Every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21208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India → SE Asia → Africa → Latin America → Global</a:t>
            </a:r>
          </a:p>
          <a:p>
            <a:pPr algn="l"/>
            <a:r>
              <a:rPr sz="1100" b="0" i="0">
                <a:solidFill>
                  <a:srgbClr val="6B7B8D"/>
                </a:solidFill>
                <a:latin typeface="Calibri"/>
              </a:rPr>
              <a:t>7,100 languages. 1 platform. 1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